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sldIdLst>
    <p:sldId id="256" r:id="rId2"/>
    <p:sldId id="370" r:id="rId3"/>
    <p:sldId id="257" r:id="rId4"/>
    <p:sldId id="368" r:id="rId5"/>
    <p:sldId id="369" r:id="rId6"/>
    <p:sldId id="372" r:id="rId7"/>
    <p:sldId id="375" r:id="rId8"/>
    <p:sldId id="374" r:id="rId9"/>
    <p:sldId id="373" r:id="rId10"/>
    <p:sldId id="3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p:cNvSpPr txBox="1"/>
          <p:nvPr/>
        </p:nvSpPr>
        <p:spPr>
          <a:xfrm>
            <a:off x="708891" y="2530618"/>
            <a:ext cx="10596421" cy="167748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rgbClr val="7030A0"/>
                </a:solidFill>
                <a:latin typeface="Verdana" panose="020B0604030504040204" pitchFamily="34" charset="0"/>
                <a:ea typeface="+mn-ea"/>
                <a:cs typeface="+mn-cs"/>
              </a:rPr>
              <a:t>C</a:t>
            </a:r>
            <a:r>
              <a:rPr lang="en-IN" sz="3200" b="1" dirty="0">
                <a:solidFill>
                  <a:srgbClr val="7030A0"/>
                </a:solidFill>
                <a:latin typeface="Verdana" panose="020B0604030504040204" pitchFamily="34" charset="0"/>
                <a:ea typeface="+mn-ea"/>
                <a:cs typeface="+mn-cs"/>
              </a:rPr>
              <a:t>ODEMENTOR -  SMART LEARNING AND PROGRESS TRACKER</a:t>
            </a:r>
          </a:p>
        </p:txBody>
      </p:sp>
      <p:sp>
        <p:nvSpPr>
          <p:cNvPr id="10" name="TextBox 1"/>
          <p:cNvSpPr txBox="1">
            <a:spLocks noChangeArrowheads="1"/>
          </p:cNvSpPr>
          <p:nvPr/>
        </p:nvSpPr>
        <p:spPr bwMode="auto">
          <a:xfrm>
            <a:off x="503853" y="5183902"/>
            <a:ext cx="388803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rPr>
              <a:t>Ms. SELAVARANI K</a:t>
            </a:r>
          </a:p>
          <a:p>
            <a:pPr>
              <a:spcBef>
                <a:spcPct val="0"/>
              </a:spcBef>
              <a:buClrTx/>
              <a:buFontTx/>
              <a:buNone/>
            </a:pPr>
            <a:r>
              <a:rPr lang="en-IN" altLang="en-US" sz="2000" b="1" dirty="0">
                <a:solidFill>
                  <a:srgbClr val="FF0000"/>
                </a:solidFill>
              </a:rPr>
              <a:t>Assistant Professor (SS)</a:t>
            </a:r>
          </a:p>
          <a:p>
            <a:pPr>
              <a:spcBef>
                <a:spcPct val="0"/>
              </a:spcBef>
              <a:buClrTx/>
              <a:buFontTx/>
              <a:buNone/>
            </a:pPr>
            <a:r>
              <a:rPr lang="en-IN" altLang="en-US" sz="2000" b="1" dirty="0">
                <a:solidFill>
                  <a:srgbClr val="FF0000"/>
                </a:solidFill>
              </a:rPr>
              <a:t>Dept of AI&amp;DS</a:t>
            </a:r>
          </a:p>
          <a:p>
            <a:pPr>
              <a:spcBef>
                <a:spcPct val="0"/>
              </a:spcBef>
              <a:buClrTx/>
              <a:buFontTx/>
              <a:buNone/>
            </a:pPr>
            <a:r>
              <a:rPr lang="en-IN" altLang="en-US" sz="2000" b="1" dirty="0">
                <a:solidFill>
                  <a:srgbClr val="FF0000"/>
                </a:solidFill>
              </a:rPr>
              <a:t>Mentor – A12</a:t>
            </a:r>
          </a:p>
          <a:p>
            <a:pPr>
              <a:spcBef>
                <a:spcPct val="0"/>
              </a:spcBef>
              <a:buClrTx/>
              <a:buFontTx/>
              <a:buNone/>
            </a:pPr>
            <a:endParaRPr lang="en-IN" altLang="en-US" sz="2000" b="1" dirty="0">
              <a:solidFill>
                <a:srgbClr val="FF0000"/>
              </a:solidFill>
            </a:endParaRPr>
          </a:p>
        </p:txBody>
      </p:sp>
      <p:sp>
        <p:nvSpPr>
          <p:cNvPr id="11" name="TextBox 1"/>
          <p:cNvSpPr txBox="1">
            <a:spLocks noChangeArrowheads="1"/>
          </p:cNvSpPr>
          <p:nvPr/>
        </p:nvSpPr>
        <p:spPr bwMode="auto">
          <a:xfrm>
            <a:off x="7520754" y="5183902"/>
            <a:ext cx="577225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rPr>
              <a:t>HARSHINI M D    221801017</a:t>
            </a:r>
          </a:p>
          <a:p>
            <a:pPr>
              <a:spcBef>
                <a:spcPct val="0"/>
              </a:spcBef>
              <a:buClrTx/>
              <a:buFontTx/>
              <a:buNone/>
            </a:pPr>
            <a:r>
              <a:rPr lang="en-IN" altLang="en-US" sz="2000" b="1" dirty="0">
                <a:solidFill>
                  <a:srgbClr val="FF0000"/>
                </a:solidFill>
              </a:rPr>
              <a:t>SAI NARAYAN R  221801042</a:t>
            </a:r>
          </a:p>
          <a:p>
            <a:pPr>
              <a:spcBef>
                <a:spcPct val="0"/>
              </a:spcBef>
              <a:buClrTx/>
              <a:buFontTx/>
              <a:buNone/>
            </a:pPr>
            <a:r>
              <a:rPr lang="en-IN" altLang="en-US" sz="2000" b="1" dirty="0">
                <a:solidFill>
                  <a:srgbClr val="FF0000"/>
                </a:solidFill>
              </a:rPr>
              <a:t>SWETHA P           221801054</a:t>
            </a: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a:t>
            </a:r>
            <a:r>
              <a:rPr lang="en-US" altLang="en-IN" sz="2800" b="1" dirty="0">
                <a:solidFill>
                  <a:srgbClr val="002060"/>
                </a:solidFill>
                <a:latin typeface="Verdana" panose="020B0604030504040204" pitchFamily="34" charset="0"/>
                <a:ea typeface="+mn-ea"/>
                <a:cs typeface="+mn-cs"/>
              </a:rPr>
              <a:t> Artificial Intelligence and Data Science</a:t>
            </a:r>
            <a:r>
              <a:rPr lang="en-IN" sz="2800" b="1" dirty="0">
                <a:solidFill>
                  <a:srgbClr val="002060"/>
                </a:solidFill>
                <a:latin typeface="Verdana" panose="020B0604030504040204" pitchFamily="34" charset="0"/>
                <a:ea typeface="+mn-ea"/>
                <a:cs typeface="+mn-cs"/>
              </a:rPr>
              <a:t> </a:t>
            </a:r>
          </a:p>
        </p:txBody>
      </p:sp>
      <p:pic>
        <p:nvPicPr>
          <p:cNvPr id="8" name="Picture 1"/>
          <p:cNvPicPr>
            <a:picLocks noChangeAspect="1"/>
          </p:cNvPicPr>
          <p:nvPr/>
        </p:nvPicPr>
        <p:blipFill>
          <a:blip r:embed="rId4"/>
          <a:stretch>
            <a:fillRect/>
          </a:stretch>
        </p:blipFill>
        <p:spPr>
          <a:xfrm>
            <a:off x="151765" y="149225"/>
            <a:ext cx="2769235" cy="10541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Abstract</a:t>
            </a:r>
            <a:endParaRPr lang="en-IN" sz="2800" dirty="0"/>
          </a:p>
        </p:txBody>
      </p:sp>
      <p:sp>
        <p:nvSpPr>
          <p:cNvPr id="3" name="Content Placeholder 2"/>
          <p:cNvSpPr>
            <a:spLocks noGrp="1"/>
          </p:cNvSpPr>
          <p:nvPr>
            <p:ph idx="1"/>
          </p:nvPr>
        </p:nvSpPr>
        <p:spPr>
          <a:xfrm>
            <a:off x="755651" y="1748118"/>
            <a:ext cx="10668000" cy="4271682"/>
          </a:xfrm>
        </p:spPr>
        <p:txBody>
          <a:bodyPr/>
          <a:lstStyle/>
          <a:p>
            <a:pPr marL="0" lvl="0" indent="0">
              <a:buClr>
                <a:srgbClr val="CC0000"/>
              </a:buClr>
              <a:buNone/>
              <a:defRPr/>
            </a:pPr>
            <a:endParaRPr lang="en-US" sz="2000" dirty="0"/>
          </a:p>
          <a:p>
            <a:pPr marL="0" lvl="0" indent="0">
              <a:buClr>
                <a:srgbClr val="CC0000"/>
              </a:buClr>
              <a:buNone/>
              <a:defRPr/>
            </a:pPr>
            <a:r>
              <a:rPr lang="en-US" sz="2000" dirty="0" err="1"/>
              <a:t>CodeMentor</a:t>
            </a:r>
            <a:r>
              <a:rPr lang="en-US" sz="2000" b="1" dirty="0"/>
              <a:t>: </a:t>
            </a:r>
            <a:r>
              <a:rPr lang="en-US" sz="2000" dirty="0"/>
              <a:t>Smart Learning and Progress Tracker is an integrated web-based platform that unifies Python theory learning, coding practice, quizzes, and performance tracking. Built using Flask for the backend, SQLite for secure data storage, and HTML, CSS, JavaScript, and Chart.js for the frontend, the system ensures a smooth and interactive learning experience. It provides structured study </a:t>
            </a:r>
            <a:r>
              <a:rPr lang="en-US" sz="2000" dirty="0" err="1"/>
              <a:t>materials,a</a:t>
            </a:r>
            <a:r>
              <a:rPr lang="en-US" sz="2000" dirty="0"/>
              <a:t> built-in Python code editor, and adaptive quizzes adjust based on learner. Dynamic charts help users visualize their progress, identify weak areas, and improve effectively. Overall, it enhances learning efficiency by merging content delivery, hands-on coding, real time analytics into one unified platform</a:t>
            </a: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a:xfrm>
            <a:off x="812800" y="6245225"/>
            <a:ext cx="2145553" cy="476250"/>
          </a:xfrm>
        </p:spPr>
        <p:txBody>
          <a:bodyPr/>
          <a:lstStyle/>
          <a:p>
            <a:r>
              <a:rPr lang="en-US" altLang="en-IN" dirty="0">
                <a:sym typeface="+mn-ea"/>
              </a:rPr>
              <a:t>End Sem</a:t>
            </a:r>
            <a:endParaRPr lang="en-US" altLang="en-IN" dirty="0"/>
          </a:p>
          <a:p>
            <a:endParaRPr lang="en-IN" dirty="0"/>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Problem Statement and Motivation</a:t>
            </a:r>
            <a:endParaRPr lang="en-IN" sz="2800" dirty="0"/>
          </a:p>
        </p:txBody>
      </p:sp>
      <p:sp>
        <p:nvSpPr>
          <p:cNvPr id="3" name="Content Placeholder 2"/>
          <p:cNvSpPr>
            <a:spLocks noGrp="1"/>
          </p:cNvSpPr>
          <p:nvPr>
            <p:ph idx="1"/>
          </p:nvPr>
        </p:nvSpPr>
        <p:spPr/>
        <p:txBody>
          <a:bodyPr/>
          <a:lstStyle/>
          <a:p>
            <a:pPr marL="0" lvl="0" indent="0">
              <a:buClr>
                <a:srgbClr val="CC0000"/>
              </a:buClr>
              <a:buNone/>
              <a:defRPr/>
            </a:pPr>
            <a:endParaRPr lang="en-US" sz="2000" dirty="0"/>
          </a:p>
          <a:p>
            <a:pPr marL="0" lvl="0" indent="0">
              <a:buClr>
                <a:srgbClr val="CC0000"/>
              </a:buClr>
              <a:buNone/>
              <a:defRPr/>
            </a:pPr>
            <a:r>
              <a:rPr lang="en-US" sz="2000" dirty="0"/>
              <a:t>In current e-learning ecosystems, learners must navigate separate interfaces for content access, coding execution, and assessment modules. This fragmented workflow causes cognitive overload and reduces operational efficiency. The absence of integrated analytics restricts real-time skill evaluation. Hence, a unified, web-based architecture is required to centralize instruction, execution, and performance tracking.</a:t>
            </a: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t>End Sem</a:t>
            </a:r>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3</a:t>
            </a:fld>
            <a:endParaRPr lang="en-IN"/>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Existing System</a:t>
            </a:r>
            <a:endParaRPr lang="en-IN" sz="2800" dirty="0"/>
          </a:p>
        </p:txBody>
      </p:sp>
      <p:sp>
        <p:nvSpPr>
          <p:cNvPr id="3" name="Content Placeholder 2"/>
          <p:cNvSpPr>
            <a:spLocks noGrp="1"/>
          </p:cNvSpPr>
          <p:nvPr>
            <p:ph idx="1"/>
          </p:nvPr>
        </p:nvSpPr>
        <p:spPr/>
        <p:txBody>
          <a:bodyPr/>
          <a:lstStyle/>
          <a:p>
            <a:endParaRPr lang="en-US" sz="2000" b="1" dirty="0"/>
          </a:p>
          <a:p>
            <a:r>
              <a:rPr lang="en-US" sz="2000" b="1" dirty="0"/>
              <a:t>1. Lack of Integrated Learning Environment</a:t>
            </a:r>
            <a:br>
              <a:rPr lang="en-US" sz="2000" dirty="0"/>
            </a:br>
            <a:r>
              <a:rPr lang="en-US" sz="2000" dirty="0"/>
              <a:t>Most platforms separate notes, coding, quizzes, and analytics, forcing learners to switch tools and disrupting continuity.</a:t>
            </a:r>
          </a:p>
          <a:p>
            <a:r>
              <a:rPr lang="en-US" sz="2000" b="1" dirty="0"/>
              <a:t>2. Absence of Personalization and Adaptive Learning</a:t>
            </a:r>
            <a:br>
              <a:rPr lang="en-US" sz="2000" dirty="0"/>
            </a:br>
            <a:r>
              <a:rPr lang="en-US" sz="2000" dirty="0"/>
              <a:t>Current systems rarely adjust difficulty or provide feedback based on user progress, limiting effective skill development.</a:t>
            </a:r>
          </a:p>
          <a:p>
            <a:r>
              <a:rPr lang="en-US" sz="2000" b="1" dirty="0"/>
              <a:t>3. Limited Progress Tracking and Visualization</a:t>
            </a:r>
            <a:br>
              <a:rPr lang="en-US" sz="2000" dirty="0"/>
            </a:br>
            <a:r>
              <a:rPr lang="en-US" sz="2000" dirty="0"/>
              <a:t>Many platforms do not offer detailed dashboards or visual insights, making it difficult for learners to measure improvement.</a:t>
            </a:r>
          </a:p>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rPr>
              <a:t>P</a:t>
            </a:r>
            <a:r>
              <a:rPr lang="en-IN" sz="3200" b="1" dirty="0" err="1">
                <a:solidFill>
                  <a:srgbClr val="FF0000"/>
                </a:solidFill>
              </a:rPr>
              <a:t>roposed</a:t>
            </a:r>
            <a:r>
              <a:rPr lang="en-IN" sz="3200" b="1" dirty="0">
                <a:solidFill>
                  <a:srgbClr val="FF0000"/>
                </a:solidFill>
              </a:rPr>
              <a:t> System</a:t>
            </a:r>
            <a:endParaRPr lang="en-IN" sz="2800" dirty="0"/>
          </a:p>
        </p:txBody>
      </p:sp>
      <p:sp>
        <p:nvSpPr>
          <p:cNvPr id="3" name="Content Placeholder 2"/>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endPar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To develop an integrated flask based learning platform that provides structured python notes , an in- browser compiler and adaptive quizzes for continuous skill improvement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To implement personalized feedback and dynamic dashboards using chart.js , enabling learners to track student progress and enhance prof</a:t>
            </a:r>
            <a:r>
              <a:rPr lang="en-IN" altLang="en-US" sz="2000" dirty="0" err="1">
                <a:solidFill>
                  <a:srgbClr val="000000"/>
                </a:solidFill>
                <a:latin typeface="Verdana" panose="020B0604030504040204"/>
              </a:rPr>
              <a:t>iency</a:t>
            </a:r>
            <a:r>
              <a:rPr lang="en-IN" altLang="en-US" sz="2000" dirty="0">
                <a:solidFill>
                  <a:srgbClr val="000000"/>
                </a:solidFill>
                <a:latin typeface="Verdana" panose="020B0604030504040204"/>
              </a:rPr>
              <a:t> </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To provide a seamless engaging learning experience through continuous monitoring of records of the user</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IN" altLang="en-US" sz="2000" dirty="0">
                <a:solidFill>
                  <a:srgbClr val="000000"/>
                </a:solidFill>
                <a:latin typeface="Verdana" panose="020B0604030504040204"/>
              </a:rPr>
              <a:t>To ensure efficient background integration with flask and SQLite for secure data handling, smooth module interaction and an engaging learning experience</a:t>
            </a:r>
            <a:br>
              <a:rPr kumimoji="0" lang="en-IN" altLang="en-US" sz="24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4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System A</a:t>
            </a:r>
            <a:r>
              <a:rPr lang="en-US" altLang="en-IN" sz="3200" b="1" dirty="0">
                <a:solidFill>
                  <a:srgbClr val="FF0000"/>
                </a:solidFill>
              </a:rPr>
              <a:t>rchitecture(framework)</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pic>
        <p:nvPicPr>
          <p:cNvPr id="7" name="Image 2">
            <a:extLst>
              <a:ext uri="{FF2B5EF4-FFF2-40B4-BE49-F238E27FC236}">
                <a16:creationId xmlns:a16="http://schemas.microsoft.com/office/drawing/2014/main" id="{18EB218C-3E5E-4C07-F82F-3A8FCB03956D}"/>
              </a:ext>
            </a:extLst>
          </p:cNvPr>
          <p:cNvPicPr>
            <a:picLocks/>
          </p:cNvPicPr>
          <p:nvPr/>
        </p:nvPicPr>
        <p:blipFill>
          <a:blip r:embed="rId4" cstate="print"/>
          <a:stretch>
            <a:fillRect/>
          </a:stretch>
        </p:blipFill>
        <p:spPr>
          <a:xfrm>
            <a:off x="1894114" y="2621690"/>
            <a:ext cx="8746165" cy="2006294"/>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92F2D0C6-C3B5-54C5-822E-12FC1559F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17C2F-EF34-28A3-006F-B98744937DED}"/>
              </a:ext>
            </a:extLst>
          </p:cNvPr>
          <p:cNvSpPr>
            <a:spLocks noGrp="1"/>
          </p:cNvSpPr>
          <p:nvPr>
            <p:ph type="title"/>
          </p:nvPr>
        </p:nvSpPr>
        <p:spPr/>
        <p:txBody>
          <a:bodyPr/>
          <a:lstStyle/>
          <a:p>
            <a:r>
              <a:rPr lang="en-IN" altLang="en-US" sz="3200" b="1" dirty="0">
                <a:solidFill>
                  <a:srgbClr val="FF0000"/>
                </a:solidFill>
              </a:rPr>
              <a:t>System A</a:t>
            </a:r>
            <a:r>
              <a:rPr lang="en-US" altLang="en-IN" sz="3200" b="1" dirty="0" err="1">
                <a:solidFill>
                  <a:srgbClr val="FF0000"/>
                </a:solidFill>
              </a:rPr>
              <a:t>rchitecture</a:t>
            </a:r>
            <a:endParaRPr lang="en-US" altLang="en-IN" sz="3200" b="1" dirty="0">
              <a:solidFill>
                <a:srgbClr val="FF0000"/>
              </a:solidFill>
            </a:endParaRPr>
          </a:p>
        </p:txBody>
      </p:sp>
      <p:sp>
        <p:nvSpPr>
          <p:cNvPr id="3" name="Content Placeholder 2">
            <a:extLst>
              <a:ext uri="{FF2B5EF4-FFF2-40B4-BE49-F238E27FC236}">
                <a16:creationId xmlns:a16="http://schemas.microsoft.com/office/drawing/2014/main" id="{1FACD691-0449-1F92-F63F-FED9564DDF8B}"/>
              </a:ext>
            </a:extLst>
          </p:cNvPr>
          <p:cNvSpPr>
            <a:spLocks noGrp="1"/>
          </p:cNvSpPr>
          <p:nvPr>
            <p:ph idx="1"/>
          </p:nvPr>
        </p:nvSpPr>
        <p:spPr/>
        <p:txBody>
          <a:bodyPr/>
          <a:lstStyle/>
          <a:p>
            <a:pPr marL="0" lvl="0" indent="0">
              <a:buClr>
                <a:srgbClr val="CC0000"/>
              </a:buClr>
              <a:buNone/>
              <a:defRPr/>
            </a:pPr>
            <a:endParaRPr lang="en-US" sz="2000" dirty="0"/>
          </a:p>
          <a:p>
            <a:pPr marL="0" lvl="0" indent="0">
              <a:buClr>
                <a:srgbClr val="CC0000"/>
              </a:buClr>
              <a:buNone/>
              <a:defRPr/>
            </a:pPr>
            <a:r>
              <a:rPr lang="en-US" sz="2000" dirty="0"/>
              <a:t>The system architecture of </a:t>
            </a:r>
            <a:r>
              <a:rPr lang="en-US" sz="2000" dirty="0" err="1"/>
              <a:t>CodeMentor</a:t>
            </a:r>
            <a:r>
              <a:rPr lang="en-US" sz="2000" dirty="0"/>
              <a:t> follows a simple client–server model where users access learning modules, quizzes, and the Python compiler through a clean and responsive web interface. The backend, built with Flask, processes requests, manages authentication, and delivers </a:t>
            </a:r>
            <a:r>
              <a:rPr lang="en-US" sz="2000" dirty="0" err="1"/>
              <a:t>personalised</a:t>
            </a:r>
            <a:r>
              <a:rPr lang="en-US" sz="2000" dirty="0"/>
              <a:t> content. SQLite stores user progress, notes, and quiz results, enabling the system to </a:t>
            </a:r>
            <a:r>
              <a:rPr lang="en-US" sz="2000" dirty="0" err="1"/>
              <a:t>analyse</a:t>
            </a:r>
            <a:r>
              <a:rPr lang="en-US" sz="2000" dirty="0"/>
              <a:t> performance and generate tailored feedback. All components work together seamlessly to provide a smooth, unified learning experience in one platform.</a:t>
            </a:r>
            <a:endPar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a:extLst>
              <a:ext uri="{FF2B5EF4-FFF2-40B4-BE49-F238E27FC236}">
                <a16:creationId xmlns:a16="http://schemas.microsoft.com/office/drawing/2014/main" id="{B2BBF8FB-1861-A304-82EE-1CEBBD35869C}"/>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7B054B12-917F-F66C-BED6-31FCDF2AE325}"/>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335B7FC5-AF12-6FC7-649D-A8BDF93CBBA8}"/>
              </a:ext>
            </a:extLst>
          </p:cNvPr>
          <p:cNvSpPr>
            <a:spLocks noGrp="1"/>
          </p:cNvSpPr>
          <p:nvPr>
            <p:ph type="sldNum" sz="quarter" idx="12"/>
          </p:nvPr>
        </p:nvSpPr>
        <p:spPr/>
        <p:txBody>
          <a:bodyPr/>
          <a:lstStyle/>
          <a:p>
            <a:fld id="{5AB9ECBD-B4DD-40D5-8D24-9ECCDBB1583E}" type="slidenum">
              <a:rPr lang="en-IN" smtClean="0"/>
              <a:t>7</a:t>
            </a:fld>
            <a:endParaRPr lang="en-IN" dirty="0"/>
          </a:p>
        </p:txBody>
      </p:sp>
    </p:spTree>
    <p:extLst>
      <p:ext uri="{BB962C8B-B14F-4D97-AF65-F5344CB8AC3E}">
        <p14:creationId xmlns:p14="http://schemas.microsoft.com/office/powerpoint/2010/main" val="265769263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Module</a:t>
            </a:r>
          </a:p>
        </p:txBody>
      </p:sp>
      <p:sp>
        <p:nvSpPr>
          <p:cNvPr id="3" name="Content Placeholder 2"/>
          <p:cNvSpPr>
            <a:spLocks noGrp="1"/>
          </p:cNvSpPr>
          <p:nvPr>
            <p:ph idx="1"/>
          </p:nvPr>
        </p:nvSpPr>
        <p:spPr/>
        <p:txBody>
          <a:bodyPr/>
          <a:lstStyle/>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endPar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IN" altLang="en-US" sz="2000" b="1" dirty="0"/>
              <a:t>User Authentication Module </a:t>
            </a: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 Handles secure registration</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IN" altLang="en-US" sz="2000" b="1" dirty="0">
                <a:solidFill>
                  <a:srgbClr val="000000"/>
                </a:solidFill>
                <a:latin typeface="Verdana" panose="020B0604030504040204"/>
              </a:rPr>
              <a:t>Testing Module </a:t>
            </a:r>
            <a:r>
              <a:rPr lang="en-IN" altLang="en-US" sz="2000" dirty="0">
                <a:solidFill>
                  <a:srgbClr val="000000"/>
                </a:solidFill>
                <a:latin typeface="Verdana" panose="020B0604030504040204"/>
              </a:rPr>
              <a:t>– Analyses the User’s knowledge level in python</a:t>
            </a:r>
            <a:endParaRPr kumimoji="0" lang="en-IN" altLang="en-US" sz="2000" b="1" i="0" u="none" strike="noStrike" kern="0" cap="none" spc="0" normalizeH="0" baseline="0" noProof="0" dirty="0">
              <a:ln>
                <a:noFill/>
              </a:ln>
              <a:solidFill>
                <a:srgbClr val="000000"/>
              </a:solidFill>
              <a:effectLst/>
              <a:uLnTx/>
              <a:uFillTx/>
              <a:latin typeface="Verdana" panose="020B0604030504040204"/>
              <a:ea typeface="+mn-ea"/>
              <a:cs typeface="+mn-cs"/>
            </a:endParaRP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IN" altLang="en-US" sz="2000" b="1" dirty="0">
                <a:solidFill>
                  <a:srgbClr val="000000"/>
                </a:solidFill>
                <a:latin typeface="Verdana" panose="020B0604030504040204"/>
              </a:rPr>
              <a:t>Learning Content Module </a:t>
            </a:r>
            <a:r>
              <a:rPr lang="en-IN" altLang="en-US" sz="2000" dirty="0">
                <a:solidFill>
                  <a:srgbClr val="000000"/>
                </a:solidFill>
                <a:latin typeface="Verdana" panose="020B0604030504040204"/>
              </a:rPr>
              <a:t>– provides structured dynamically rendered python lessons</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IN" altLang="en-US" sz="2000" b="1" i="0" u="none" strike="noStrike" kern="0" cap="none" spc="0" normalizeH="0" baseline="0" noProof="0" dirty="0">
                <a:ln>
                  <a:noFill/>
                </a:ln>
                <a:solidFill>
                  <a:srgbClr val="000000"/>
                </a:solidFill>
                <a:effectLst/>
                <a:uLnTx/>
                <a:uFillTx/>
                <a:latin typeface="Verdana" panose="020B0604030504040204"/>
                <a:ea typeface="+mn-ea"/>
                <a:cs typeface="+mn-cs"/>
              </a:rPr>
              <a:t>Python Compiler Module </a:t>
            </a: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–enables safe in browser python code execution with instant output</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lang="en-IN" altLang="en-US" sz="2000" b="1" dirty="0">
                <a:solidFill>
                  <a:srgbClr val="000000"/>
                </a:solidFill>
                <a:latin typeface="Verdana" panose="020B0604030504040204"/>
              </a:rPr>
              <a:t>Adaptive Quiz Module </a:t>
            </a:r>
            <a:r>
              <a:rPr lang="en-IN" altLang="en-US" sz="2000" dirty="0">
                <a:solidFill>
                  <a:srgbClr val="000000"/>
                </a:solidFill>
                <a:latin typeface="Verdana" panose="020B0604030504040204"/>
              </a:rPr>
              <a:t>– present difficulty level quiz</a:t>
            </a:r>
          </a:p>
          <a:p>
            <a:pPr marL="469900" marR="0" lvl="0" indent="-469900" algn="l" defTabSz="914400" rtl="0" eaLnBrk="0" fontAlgn="base" latinLnBrk="0" hangingPunct="0">
              <a:lnSpc>
                <a:spcPct val="100000"/>
              </a:lnSpc>
              <a:spcBef>
                <a:spcPct val="20000"/>
              </a:spcBef>
              <a:spcAft>
                <a:spcPct val="0"/>
              </a:spcAft>
              <a:buClr>
                <a:srgbClr val="CC0000"/>
              </a:buClr>
              <a:buSzTx/>
              <a:buFont typeface="Wingdings" panose="05000000000000000000" pitchFamily="2" charset="2"/>
              <a:buChar char="o"/>
              <a:defRPr/>
            </a:pPr>
            <a:r>
              <a:rPr kumimoji="0" lang="en-IN" altLang="en-US" sz="2000" b="1" i="0" u="none" strike="noStrike" kern="0" cap="none" spc="0" normalizeH="0" baseline="0" noProof="0" dirty="0">
                <a:ln>
                  <a:noFill/>
                </a:ln>
                <a:solidFill>
                  <a:srgbClr val="000000"/>
                </a:solidFill>
                <a:effectLst/>
                <a:uLnTx/>
                <a:uFillTx/>
                <a:latin typeface="Verdana" panose="020B0604030504040204"/>
                <a:ea typeface="+mn-ea"/>
                <a:cs typeface="+mn-cs"/>
              </a:rPr>
              <a:t>Analytics And Feedback Module </a:t>
            </a:r>
            <a:r>
              <a:rPr kumimoji="0" lang="en-IN" altLang="en-US" sz="2000" b="0" i="0" u="none" strike="noStrike" kern="0" cap="none" spc="0" normalizeH="0" baseline="0" noProof="0" dirty="0">
                <a:ln>
                  <a:noFill/>
                </a:ln>
                <a:solidFill>
                  <a:srgbClr val="000000"/>
                </a:solidFill>
                <a:effectLst/>
                <a:uLnTx/>
                <a:uFillTx/>
                <a:latin typeface="Verdana" panose="020B0604030504040204"/>
                <a:ea typeface="+mn-ea"/>
                <a:cs typeface="+mn-cs"/>
              </a:rPr>
              <a:t>– generates real time progress visualizations with chart.js</a:t>
            </a: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Conclusion</a:t>
            </a:r>
          </a:p>
        </p:txBody>
      </p:sp>
      <p:sp>
        <p:nvSpPr>
          <p:cNvPr id="3" name="Content Placeholder 2"/>
          <p:cNvSpPr>
            <a:spLocks noGrp="1"/>
          </p:cNvSpPr>
          <p:nvPr>
            <p:ph idx="1"/>
          </p:nvPr>
        </p:nvSpPr>
        <p:spPr>
          <a:xfrm>
            <a:off x="755651" y="1640541"/>
            <a:ext cx="10668000" cy="4473387"/>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endParaRPr lang="en-IN" sz="2000" dirty="0"/>
          </a:p>
          <a:p>
            <a:pPr marL="0" marR="0" lvl="0" indent="0" algn="l" defTabSz="914400" rtl="0" eaLnBrk="0" fontAlgn="base" latinLnBrk="0" hangingPunct="0">
              <a:lnSpc>
                <a:spcPct val="100000"/>
              </a:lnSpc>
              <a:spcBef>
                <a:spcPct val="20000"/>
              </a:spcBef>
              <a:spcAft>
                <a:spcPct val="0"/>
              </a:spcAft>
              <a:buClr>
                <a:srgbClr val="CC0000"/>
              </a:buClr>
              <a:buSzTx/>
              <a:buNone/>
              <a:defRPr/>
            </a:pPr>
            <a:r>
              <a:rPr lang="en-IN" sz="2000" dirty="0" err="1"/>
              <a:t>CodeMentor</a:t>
            </a:r>
            <a:r>
              <a:rPr lang="en-IN" sz="2000" dirty="0"/>
              <a:t>: Smart Learning and Progress Tracker provides an integrated platform that combines Python learning materials, coding practice, adaptive quizzes, and progress analytics. Using Flask, SQLite, and Chart.js, the system ensures efficient backend processing, secure data storage, and real-time visualization. Its adaptive quiz logic, embedded compiler, and personalized feedback improve both conceptual understanding and practical coding skills. The platform promotes continuous learning through data-driven insights and interactive features. Overall, </a:t>
            </a:r>
            <a:r>
              <a:rPr lang="en-IN" sz="2000" dirty="0" err="1"/>
              <a:t>CodeMentor</a:t>
            </a:r>
            <a:r>
              <a:rPr lang="en-IN" sz="2000" dirty="0"/>
              <a:t> demonstrates how modern web technologies can create an effective, intelligent, and scalable environment for Python education.</a:t>
            </a: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9</a:t>
            </a:fld>
            <a:endParaRPr lang="en-IN"/>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10</a:t>
            </a:fld>
            <a:endParaRPr lang="en-US" altLang="en-US" dirty="0"/>
          </a:p>
        </p:txBody>
      </p:sp>
      <p:sp>
        <p:nvSpPr>
          <p:cNvPr id="5" name="Date Placeholder 4"/>
          <p:cNvSpPr>
            <a:spLocks noGrp="1"/>
          </p:cNvSpPr>
          <p:nvPr>
            <p:ph type="dt" sz="half" idx="10"/>
          </p:nvPr>
        </p:nvSpPr>
        <p:spPr/>
        <p:txBody>
          <a:bodyPr/>
          <a:lstStyle/>
          <a:p>
            <a:pPr>
              <a:defRPr/>
            </a:pPr>
            <a:r>
              <a:rPr lang="en-US" altLang="en-IN">
                <a:sym typeface="+mn-ea"/>
              </a:rPr>
              <a:t>End Sem</a:t>
            </a:r>
            <a:endParaRPr lang="en-US" altLang="en-IN"/>
          </a:p>
          <a:p>
            <a:pPr>
              <a:defRPr/>
            </a:pPr>
            <a:endParaRPr lang="en-US"/>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90</TotalTime>
  <Words>770</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Verdana</vt:lpstr>
      <vt:lpstr>Wingdings</vt:lpstr>
      <vt:lpstr>Profile</vt:lpstr>
      <vt:lpstr>PowerPoint Presentation</vt:lpstr>
      <vt:lpstr>Abstract</vt:lpstr>
      <vt:lpstr>Problem Statement and Motivation</vt:lpstr>
      <vt:lpstr>Existing System</vt:lpstr>
      <vt:lpstr>Proposed System</vt:lpstr>
      <vt:lpstr>System Architecture(framework)</vt:lpstr>
      <vt:lpstr>System Architecture</vt:lpstr>
      <vt:lpstr>Module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RAMESHKUMAR RAJAGOPALAN</cp:lastModifiedBy>
  <cp:revision>10</cp:revision>
  <dcterms:created xsi:type="dcterms:W3CDTF">2025-11-22T14:54:41Z</dcterms:created>
  <dcterms:modified xsi:type="dcterms:W3CDTF">2025-11-23T14:23:44Z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